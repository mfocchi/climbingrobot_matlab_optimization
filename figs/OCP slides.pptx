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9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F43D-1BFC-4438-A314-2430170FBD0F}" type="datetimeFigureOut">
              <a:rPr lang="it-IT" smtClean="0"/>
              <a:t>01/02/2023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706D-F1DB-41C7-A19B-C1D81C48D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1274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F43D-1BFC-4438-A314-2430170FBD0F}" type="datetimeFigureOut">
              <a:rPr lang="it-IT" smtClean="0"/>
              <a:t>01/02/2023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706D-F1DB-41C7-A19B-C1D81C48D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464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F43D-1BFC-4438-A314-2430170FBD0F}" type="datetimeFigureOut">
              <a:rPr lang="it-IT" smtClean="0"/>
              <a:t>01/02/2023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706D-F1DB-41C7-A19B-C1D81C48D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7884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F43D-1BFC-4438-A314-2430170FBD0F}" type="datetimeFigureOut">
              <a:rPr lang="it-IT" smtClean="0"/>
              <a:t>01/02/2023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706D-F1DB-41C7-A19B-C1D81C48D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0814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F43D-1BFC-4438-A314-2430170FBD0F}" type="datetimeFigureOut">
              <a:rPr lang="it-IT" smtClean="0"/>
              <a:t>01/02/2023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706D-F1DB-41C7-A19B-C1D81C48D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102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F43D-1BFC-4438-A314-2430170FBD0F}" type="datetimeFigureOut">
              <a:rPr lang="it-IT" smtClean="0"/>
              <a:t>01/02/2023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706D-F1DB-41C7-A19B-C1D81C48D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7623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F43D-1BFC-4438-A314-2430170FBD0F}" type="datetimeFigureOut">
              <a:rPr lang="it-IT" smtClean="0"/>
              <a:t>01/02/2023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706D-F1DB-41C7-A19B-C1D81C48D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1546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F43D-1BFC-4438-A314-2430170FBD0F}" type="datetimeFigureOut">
              <a:rPr lang="it-IT" smtClean="0"/>
              <a:t>01/02/2023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706D-F1DB-41C7-A19B-C1D81C48D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8987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F43D-1BFC-4438-A314-2430170FBD0F}" type="datetimeFigureOut">
              <a:rPr lang="it-IT" smtClean="0"/>
              <a:t>01/02/2023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706D-F1DB-41C7-A19B-C1D81C48D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872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F43D-1BFC-4438-A314-2430170FBD0F}" type="datetimeFigureOut">
              <a:rPr lang="it-IT" smtClean="0"/>
              <a:t>01/02/2023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706D-F1DB-41C7-A19B-C1D81C48D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414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F43D-1BFC-4438-A314-2430170FBD0F}" type="datetimeFigureOut">
              <a:rPr lang="it-IT" smtClean="0"/>
              <a:t>01/02/2023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C706D-F1DB-41C7-A19B-C1D81C48D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7953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EF43D-1BFC-4438-A314-2430170FBD0F}" type="datetimeFigureOut">
              <a:rPr lang="it-IT" smtClean="0"/>
              <a:t>01/02/2023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C706D-F1DB-41C7-A19B-C1D81C48DD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346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77688" y="590482"/>
            <a:ext cx="11814312" cy="1655762"/>
          </a:xfrm>
        </p:spPr>
        <p:txBody>
          <a:bodyPr>
            <a:normAutofit/>
          </a:bodyPr>
          <a:lstStyle/>
          <a:p>
            <a:r>
              <a:rPr lang="it-IT" dirty="0" smtClean="0"/>
              <a:t>The </a:t>
            </a:r>
            <a:r>
              <a:rPr lang="it-IT" dirty="0" err="1" smtClean="0"/>
              <a:t>jump</a:t>
            </a:r>
            <a:r>
              <a:rPr lang="it-IT" dirty="0" smtClean="0"/>
              <a:t> </a:t>
            </a:r>
            <a:r>
              <a:rPr lang="it-IT" dirty="0" err="1" smtClean="0"/>
              <a:t>between</a:t>
            </a:r>
            <a:r>
              <a:rPr lang="it-IT" dirty="0" smtClean="0"/>
              <a:t> </a:t>
            </a:r>
            <a:r>
              <a:rPr lang="it-IT" dirty="0" err="1" smtClean="0"/>
              <a:t>two</a:t>
            </a:r>
            <a:r>
              <a:rPr lang="it-IT" dirty="0" smtClean="0"/>
              <a:t> </a:t>
            </a:r>
            <a:r>
              <a:rPr lang="it-IT" dirty="0" err="1" smtClean="0"/>
              <a:t>points</a:t>
            </a:r>
            <a:r>
              <a:rPr lang="it-IT" dirty="0" smtClean="0"/>
              <a:t>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computed</a:t>
            </a:r>
            <a:r>
              <a:rPr lang="it-IT" dirty="0" smtClean="0"/>
              <a:t> via  </a:t>
            </a:r>
            <a:r>
              <a:rPr lang="it-IT" dirty="0" err="1" smtClean="0"/>
              <a:t>Optimal</a:t>
            </a:r>
            <a:r>
              <a:rPr lang="it-IT" dirty="0" smtClean="0"/>
              <a:t> Control.</a:t>
            </a:r>
          </a:p>
          <a:p>
            <a:r>
              <a:rPr lang="it-IT" dirty="0" err="1" smtClean="0"/>
              <a:t>We</a:t>
            </a:r>
            <a:r>
              <a:rPr lang="it-IT" dirty="0" smtClean="0"/>
              <a:t> use the </a:t>
            </a:r>
            <a:r>
              <a:rPr lang="it-IT" dirty="0" err="1" smtClean="0"/>
              <a:t>indirect</a:t>
            </a:r>
            <a:r>
              <a:rPr lang="it-IT" dirty="0" smtClean="0"/>
              <a:t> </a:t>
            </a:r>
            <a:r>
              <a:rPr lang="it-IT" dirty="0" err="1" smtClean="0"/>
              <a:t>variational</a:t>
            </a:r>
            <a:r>
              <a:rPr lang="it-IT" dirty="0" smtClean="0"/>
              <a:t> </a:t>
            </a:r>
            <a:r>
              <a:rPr lang="it-IT" dirty="0" err="1" smtClean="0"/>
              <a:t>approach</a:t>
            </a:r>
            <a:r>
              <a:rPr lang="it-IT" dirty="0" smtClean="0"/>
              <a:t> </a:t>
            </a:r>
            <a:r>
              <a:rPr lang="it-IT" dirty="0" err="1" smtClean="0"/>
              <a:t>according</a:t>
            </a:r>
            <a:r>
              <a:rPr lang="it-IT" dirty="0" smtClean="0"/>
              <a:t> to </a:t>
            </a:r>
            <a:r>
              <a:rPr lang="it-IT" dirty="0" err="1" smtClean="0"/>
              <a:t>Pontryagin</a:t>
            </a:r>
            <a:r>
              <a:rPr lang="it-IT" dirty="0" smtClean="0"/>
              <a:t> Maximum </a:t>
            </a:r>
            <a:r>
              <a:rPr lang="it-IT" dirty="0" err="1" smtClean="0"/>
              <a:t>Principle</a:t>
            </a:r>
            <a:r>
              <a:rPr lang="it-IT" dirty="0" smtClean="0"/>
              <a:t>.</a:t>
            </a:r>
          </a:p>
          <a:p>
            <a:r>
              <a:rPr lang="it-IT" dirty="0" smtClean="0"/>
              <a:t>The </a:t>
            </a:r>
            <a:r>
              <a:rPr lang="it-IT" dirty="0" err="1" smtClean="0"/>
              <a:t>Bolza</a:t>
            </a:r>
            <a:r>
              <a:rPr lang="it-IT" dirty="0" smtClean="0"/>
              <a:t> </a:t>
            </a:r>
            <a:r>
              <a:rPr lang="it-IT" dirty="0" err="1" smtClean="0"/>
              <a:t>problem</a:t>
            </a:r>
            <a:r>
              <a:rPr lang="it-IT" dirty="0" smtClean="0"/>
              <a:t> </a:t>
            </a:r>
            <a:r>
              <a:rPr lang="it-IT" dirty="0" err="1" smtClean="0"/>
              <a:t>that</a:t>
            </a:r>
            <a:r>
              <a:rPr lang="it-IT" dirty="0" smtClean="0"/>
              <a:t> </a:t>
            </a:r>
            <a:r>
              <a:rPr lang="it-IT" dirty="0" err="1" smtClean="0"/>
              <a:t>we</a:t>
            </a:r>
            <a:r>
              <a:rPr lang="it-IT" dirty="0" smtClean="0"/>
              <a:t> solve </a:t>
            </a:r>
            <a:r>
              <a:rPr lang="it-IT" dirty="0" err="1" smtClean="0"/>
              <a:t>is</a:t>
            </a:r>
            <a:r>
              <a:rPr lang="it-IT" dirty="0" smtClean="0"/>
              <a:t> the </a:t>
            </a:r>
            <a:r>
              <a:rPr lang="it-IT" dirty="0" err="1" smtClean="0"/>
              <a:t>following</a:t>
            </a:r>
            <a:r>
              <a:rPr lang="it-IT" dirty="0" smtClean="0"/>
              <a:t>:</a:t>
            </a:r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142" y="2156791"/>
            <a:ext cx="6431279" cy="296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19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48140" y="245717"/>
            <a:ext cx="6407426" cy="1255506"/>
          </a:xfrm>
        </p:spPr>
        <p:txBody>
          <a:bodyPr>
            <a:normAutofit/>
          </a:bodyPr>
          <a:lstStyle/>
          <a:p>
            <a:r>
              <a:rPr lang="it-IT" dirty="0" err="1" smtClean="0"/>
              <a:t>Specifically</a:t>
            </a:r>
            <a:r>
              <a:rPr lang="it-IT" dirty="0" smtClean="0"/>
              <a:t>, </a:t>
            </a:r>
            <a:r>
              <a:rPr lang="it-IT" dirty="0" err="1" smtClean="0"/>
              <a:t>we</a:t>
            </a:r>
            <a:r>
              <a:rPr lang="it-IT" dirty="0" smtClean="0"/>
              <a:t> </a:t>
            </a:r>
            <a:r>
              <a:rPr lang="it-IT" dirty="0" err="1" smtClean="0"/>
              <a:t>consider</a:t>
            </a:r>
            <a:r>
              <a:rPr lang="it-IT" dirty="0" smtClean="0"/>
              <a:t> 6 state </a:t>
            </a:r>
            <a:r>
              <a:rPr lang="it-IT" dirty="0" err="1" smtClean="0"/>
              <a:t>variables</a:t>
            </a:r>
            <a:r>
              <a:rPr lang="it-IT" dirty="0" smtClean="0"/>
              <a:t>:</a:t>
            </a:r>
          </a:p>
          <a:p>
            <a:r>
              <a:rPr lang="it-IT" dirty="0" smtClean="0"/>
              <a:t> 2 control </a:t>
            </a:r>
            <a:r>
              <a:rPr lang="it-IT" dirty="0" err="1" smtClean="0"/>
              <a:t>inputs</a:t>
            </a:r>
            <a:r>
              <a:rPr lang="it-IT" dirty="0" smtClean="0"/>
              <a:t>:</a:t>
            </a:r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774" y="205409"/>
            <a:ext cx="2305050" cy="476250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774" y="748541"/>
            <a:ext cx="1085850" cy="466725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831574" y="1416791"/>
            <a:ext cx="5830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smtClean="0"/>
              <a:t>The </a:t>
            </a:r>
            <a:r>
              <a:rPr lang="it-IT" sz="2800" dirty="0" err="1" smtClean="0"/>
              <a:t>dyamic</a:t>
            </a:r>
            <a:r>
              <a:rPr lang="it-IT" sz="2800" dirty="0" smtClean="0"/>
              <a:t> </a:t>
            </a:r>
            <a:r>
              <a:rPr lang="it-IT" sz="2800" dirty="0" err="1" smtClean="0"/>
              <a:t>system</a:t>
            </a:r>
            <a:r>
              <a:rPr lang="it-IT" sz="2800" dirty="0" smtClean="0"/>
              <a:t>  of the model </a:t>
            </a:r>
            <a:r>
              <a:rPr lang="it-IT" sz="2800" dirty="0" err="1" smtClean="0"/>
              <a:t>is</a:t>
            </a:r>
            <a:r>
              <a:rPr lang="it-IT" sz="2800" dirty="0" smtClean="0"/>
              <a:t>:</a:t>
            </a:r>
            <a:endParaRPr lang="it-IT" sz="2800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805" y="1940011"/>
            <a:ext cx="8553450" cy="2952750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692426" y="4892761"/>
            <a:ext cx="5830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smtClean="0"/>
              <a:t>The </a:t>
            </a:r>
            <a:r>
              <a:rPr lang="it-IT" sz="2800" dirty="0" err="1" smtClean="0"/>
              <a:t>optimisation</a:t>
            </a:r>
            <a:r>
              <a:rPr lang="it-IT" sz="2800" dirty="0" smtClean="0"/>
              <a:t> target </a:t>
            </a:r>
            <a:r>
              <a:rPr lang="it-IT" sz="2800" dirty="0" err="1" smtClean="0"/>
              <a:t>function</a:t>
            </a:r>
            <a:r>
              <a:rPr lang="it-IT" sz="2800" dirty="0" smtClean="0"/>
              <a:t> </a:t>
            </a:r>
            <a:r>
              <a:rPr lang="it-IT" sz="2800" dirty="0" err="1" smtClean="0"/>
              <a:t>is</a:t>
            </a:r>
            <a:r>
              <a:rPr lang="it-IT" sz="2800" dirty="0" smtClean="0"/>
              <a:t>:</a:t>
            </a:r>
            <a:endParaRPr lang="it-IT" sz="2800" dirty="0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695" y="5415981"/>
            <a:ext cx="798195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39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48140" y="245716"/>
            <a:ext cx="6407426" cy="61451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sz="3000" dirty="0" smtClean="0"/>
              <a:t>The </a:t>
            </a:r>
            <a:r>
              <a:rPr lang="it-IT" sz="3000" dirty="0" err="1" smtClean="0"/>
              <a:t>constraints</a:t>
            </a:r>
            <a:r>
              <a:rPr lang="it-IT" sz="3000" dirty="0" smtClean="0"/>
              <a:t> of the </a:t>
            </a:r>
            <a:r>
              <a:rPr lang="it-IT" sz="3000" dirty="0" err="1" smtClean="0"/>
              <a:t>problem</a:t>
            </a:r>
            <a:r>
              <a:rPr lang="it-IT" sz="3000" dirty="0" smtClean="0"/>
              <a:t> are:</a:t>
            </a:r>
            <a:br>
              <a:rPr lang="it-IT" sz="3000" dirty="0" smtClean="0"/>
            </a:br>
            <a:endParaRPr lang="it-IT" sz="3000" dirty="0" smtClean="0"/>
          </a:p>
          <a:p>
            <a:r>
              <a:rPr lang="it-IT" sz="3000" dirty="0" err="1" smtClean="0"/>
              <a:t>Bounded</a:t>
            </a:r>
            <a:r>
              <a:rPr lang="it-IT" sz="3000" dirty="0" smtClean="0"/>
              <a:t> </a:t>
            </a:r>
            <a:r>
              <a:rPr lang="it-IT" sz="3000" dirty="0" err="1" smtClean="0"/>
              <a:t>retraction</a:t>
            </a:r>
            <a:r>
              <a:rPr lang="it-IT" sz="3000" dirty="0" smtClean="0"/>
              <a:t> force:</a:t>
            </a:r>
          </a:p>
          <a:p>
            <a:endParaRPr lang="it-IT" sz="3000" dirty="0" smtClean="0"/>
          </a:p>
          <a:p>
            <a:r>
              <a:rPr lang="it-IT" sz="3000" dirty="0" smtClean="0"/>
              <a:t>Limited </a:t>
            </a:r>
            <a:r>
              <a:rPr lang="it-IT" sz="3000" dirty="0" err="1" smtClean="0"/>
              <a:t>jump</a:t>
            </a:r>
            <a:r>
              <a:rPr lang="it-IT" sz="3000" dirty="0" smtClean="0"/>
              <a:t> </a:t>
            </a:r>
            <a:r>
              <a:rPr lang="it-IT" sz="3000" dirty="0" err="1" smtClean="0"/>
              <a:t>actuation</a:t>
            </a:r>
            <a:r>
              <a:rPr lang="it-IT" sz="3000" dirty="0" smtClean="0"/>
              <a:t> force:</a:t>
            </a:r>
          </a:p>
          <a:p>
            <a:endParaRPr lang="it-IT" sz="3000" dirty="0" smtClean="0"/>
          </a:p>
          <a:p>
            <a:r>
              <a:rPr lang="it-IT" sz="3000" dirty="0" err="1" smtClean="0"/>
              <a:t>Friction</a:t>
            </a:r>
            <a:r>
              <a:rPr lang="it-IT" sz="3000" dirty="0" smtClean="0"/>
              <a:t> </a:t>
            </a:r>
            <a:r>
              <a:rPr lang="it-IT" sz="3000" dirty="0" err="1" smtClean="0"/>
              <a:t>constraint</a:t>
            </a:r>
            <a:r>
              <a:rPr lang="it-IT" sz="3000" dirty="0" smtClean="0"/>
              <a:t>:</a:t>
            </a:r>
          </a:p>
          <a:p>
            <a:endParaRPr lang="it-IT" sz="3000" dirty="0" smtClean="0"/>
          </a:p>
          <a:p>
            <a:r>
              <a:rPr lang="it-IT" sz="3000" dirty="0" smtClean="0"/>
              <a:t>Motion </a:t>
            </a:r>
            <a:r>
              <a:rPr lang="it-IT" sz="3000" dirty="0" err="1" smtClean="0"/>
              <a:t>outside</a:t>
            </a:r>
            <a:r>
              <a:rPr lang="it-IT" sz="3000" dirty="0" smtClean="0"/>
              <a:t> the </a:t>
            </a:r>
            <a:r>
              <a:rPr lang="it-IT" sz="3000" dirty="0" err="1" smtClean="0"/>
              <a:t>wall</a:t>
            </a:r>
            <a:r>
              <a:rPr lang="it-IT" sz="3000" dirty="0" smtClean="0"/>
              <a:t>:</a:t>
            </a:r>
          </a:p>
          <a:p>
            <a:endParaRPr lang="it-IT" sz="3000" dirty="0" smtClean="0"/>
          </a:p>
          <a:p>
            <a:r>
              <a:rPr lang="it-IT" sz="3000" dirty="0" err="1" smtClean="0"/>
              <a:t>Generic</a:t>
            </a:r>
            <a:r>
              <a:rPr lang="it-IT" sz="3000" dirty="0" smtClean="0"/>
              <a:t> </a:t>
            </a:r>
            <a:r>
              <a:rPr lang="it-IT" sz="3000" dirty="0" err="1" smtClean="0"/>
              <a:t>obstacle</a:t>
            </a:r>
            <a:r>
              <a:rPr lang="it-IT" sz="3000" dirty="0" smtClean="0"/>
              <a:t>:</a:t>
            </a:r>
            <a:r>
              <a:rPr lang="it-IT" sz="3000" dirty="0" smtClean="0"/>
              <a:t> </a:t>
            </a:r>
          </a:p>
          <a:p>
            <a:endParaRPr lang="it-IT" sz="3000" dirty="0"/>
          </a:p>
          <a:p>
            <a:r>
              <a:rPr lang="it-IT" sz="3000" dirty="0" smtClean="0"/>
              <a:t>For a </a:t>
            </a:r>
            <a:r>
              <a:rPr lang="it-IT" sz="3000" dirty="0" err="1" smtClean="0"/>
              <a:t>conical</a:t>
            </a:r>
            <a:r>
              <a:rPr lang="it-IT" sz="3000" dirty="0" smtClean="0"/>
              <a:t> </a:t>
            </a:r>
            <a:r>
              <a:rPr lang="it-IT" sz="3000" dirty="0" err="1" smtClean="0"/>
              <a:t>obstacle</a:t>
            </a:r>
            <a:r>
              <a:rPr lang="it-IT" sz="3000" dirty="0" smtClean="0"/>
              <a:t>: </a:t>
            </a:r>
          </a:p>
          <a:p>
            <a:endParaRPr lang="it-IT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575" y="874228"/>
            <a:ext cx="2847975" cy="600075"/>
          </a:xfrm>
          <a:prstGeom prst="rect">
            <a:avLst/>
          </a:prstGeom>
        </p:spPr>
      </p:pic>
      <p:pic>
        <p:nvPicPr>
          <p:cNvPr id="10" name="Immagin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038" y="3864044"/>
            <a:ext cx="1133475" cy="428625"/>
          </a:xfrm>
          <a:prstGeom prst="rect">
            <a:avLst/>
          </a:prstGeom>
        </p:spPr>
      </p:pic>
      <p:pic>
        <p:nvPicPr>
          <p:cNvPr id="11" name="Immagin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575" y="4694582"/>
            <a:ext cx="1600200" cy="476250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438" y="1693378"/>
            <a:ext cx="3762375" cy="1038225"/>
          </a:xfrm>
          <a:prstGeom prst="rect">
            <a:avLst/>
          </a:prstGeom>
        </p:spPr>
      </p:pic>
      <p:pic>
        <p:nvPicPr>
          <p:cNvPr id="13" name="Immagin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438" y="2731603"/>
            <a:ext cx="2724150" cy="742950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0" y="5512698"/>
            <a:ext cx="78105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282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67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Frego Marco</dc:creator>
  <cp:lastModifiedBy>Frego Marco</cp:lastModifiedBy>
  <cp:revision>7</cp:revision>
  <dcterms:created xsi:type="dcterms:W3CDTF">2023-02-01T09:05:40Z</dcterms:created>
  <dcterms:modified xsi:type="dcterms:W3CDTF">2023-02-01T09:53:23Z</dcterms:modified>
</cp:coreProperties>
</file>